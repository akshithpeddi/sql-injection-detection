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sldIdLst>
    <p:sldId id="265" r:id="rId2"/>
    <p:sldId id="300" r:id="rId3"/>
    <p:sldId id="294" r:id="rId4"/>
    <p:sldId id="302" r:id="rId5"/>
    <p:sldId id="311" r:id="rId6"/>
    <p:sldId id="303" r:id="rId7"/>
    <p:sldId id="304" r:id="rId8"/>
    <p:sldId id="305" r:id="rId9"/>
    <p:sldId id="30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50232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67472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01194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4188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144513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13431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58070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3752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85161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05699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970267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693453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658557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842229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601544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706124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602042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5AB594-3664-8E9E-06CB-D3D33937B75C}"/>
              </a:ext>
            </a:extLst>
          </p:cNvPr>
          <p:cNvCxnSpPr/>
          <p:nvPr userDrawn="1"/>
        </p:nvCxnSpPr>
        <p:spPr>
          <a:xfrm>
            <a:off x="336000" y="547474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7E3AE6-1AA2-47C1-4627-E4CAD3494BF7}"/>
              </a:ext>
            </a:extLst>
          </p:cNvPr>
          <p:cNvCxnSpPr/>
          <p:nvPr userDrawn="1"/>
        </p:nvCxnSpPr>
        <p:spPr>
          <a:xfrm>
            <a:off x="336000" y="6315483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453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bg>
      <p:bgPr>
        <a:solidFill>
          <a:srgbClr val="F8F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34769"/>
            <a:ext cx="11520000" cy="539672"/>
          </a:xfrm>
          <a:prstGeom prst="rect">
            <a:avLst/>
          </a:prstGeom>
        </p:spPr>
        <p:txBody>
          <a:bodyPr tIns="0" bIns="0"/>
          <a:lstStyle>
            <a:lvl1pPr algn="ctr">
              <a:lnSpc>
                <a:spcPct val="100000"/>
              </a:lnSpc>
              <a:defRPr sz="36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42000" y="673830"/>
            <a:ext cx="11520000" cy="0"/>
          </a:xfrm>
          <a:prstGeom prst="line">
            <a:avLst/>
          </a:prstGeom>
          <a:ln w="19050" cap="rnd">
            <a:solidFill>
              <a:srgbClr val="063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8000" y="767566"/>
            <a:ext cx="11665475" cy="5494085"/>
          </a:xfrm>
          <a:prstGeom prst="rect">
            <a:avLst/>
          </a:prstGeom>
        </p:spPr>
        <p:txBody>
          <a:bodyPr tIns="0" bIns="0"/>
          <a:lstStyle>
            <a:lvl1pPr marL="228600" indent="-228600">
              <a:buClr>
                <a:srgbClr val="B40000"/>
              </a:buClr>
              <a:buSzPct val="75000"/>
              <a:buFontTx/>
              <a:buChar char="►"/>
              <a:defRPr sz="3200">
                <a:solidFill>
                  <a:schemeClr val="tx1"/>
                </a:solidFill>
                <a:latin typeface="+mn-lt"/>
              </a:defRPr>
            </a:lvl1pPr>
            <a:lvl2pPr marL="685800" indent="-228600">
              <a:buClr>
                <a:srgbClr val="B40000"/>
              </a:buClr>
              <a:buSzPct val="75000"/>
              <a:buFontTx/>
              <a:buChar char="►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>
              <a:buClr>
                <a:srgbClr val="B40000"/>
              </a:buClr>
              <a:buSzPct val="75000"/>
              <a:buFontTx/>
              <a:buChar char="►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C148890-B4AF-876D-F64B-062232F6784C}"/>
              </a:ext>
            </a:extLst>
          </p:cNvPr>
          <p:cNvSpPr txBox="1">
            <a:spLocks/>
          </p:cNvSpPr>
          <p:nvPr userDrawn="1"/>
        </p:nvSpPr>
        <p:spPr>
          <a:xfrm>
            <a:off x="-60665" y="6508278"/>
            <a:ext cx="711200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Optim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8DC1522-342F-47E4-9CF7-D7732B4FB87D}" type="slidenum">
              <a:rPr lang="en-GB" sz="1200" b="0" smtClean="0">
                <a:solidFill>
                  <a:srgbClr val="F8F6CA"/>
                </a:solidFill>
                <a:latin typeface="+mn-lt"/>
              </a:rPr>
              <a:pPr algn="ctr"/>
              <a:t>‹#›</a:t>
            </a:fld>
            <a:endParaRPr lang="en-GB" sz="1400" b="0">
              <a:solidFill>
                <a:srgbClr val="F8F6C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4491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651EBA5-5D6B-1245-9328-7D2D181FC864}" type="datetimeFigureOut">
              <a:rPr lang="en-MA" smtClean="0"/>
              <a:t>07/01/2026</a:t>
            </a:fld>
            <a:endParaRPr lang="en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9672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9B5EE0A-878A-594B-5E78-A954372A4F11}"/>
              </a:ext>
            </a:extLst>
          </p:cNvPr>
          <p:cNvSpPr txBox="1">
            <a:spLocks/>
          </p:cNvSpPr>
          <p:nvPr/>
        </p:nvSpPr>
        <p:spPr>
          <a:xfrm>
            <a:off x="1534372" y="2589106"/>
            <a:ext cx="9123256" cy="1265212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35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SQL Injection Detection Using Machine Learning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2D4E25-4A15-F302-45AF-52408EC6981E}"/>
              </a:ext>
            </a:extLst>
          </p:cNvPr>
          <p:cNvSpPr txBox="1">
            <a:spLocks/>
          </p:cNvSpPr>
          <p:nvPr/>
        </p:nvSpPr>
        <p:spPr>
          <a:xfrm>
            <a:off x="2448165" y="4268894"/>
            <a:ext cx="7295669" cy="915848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2400" dirty="0">
                <a:solidFill>
                  <a:srgbClr val="F8F6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Name: Akshith Peddi (A00041622)</a:t>
            </a:r>
          </a:p>
          <a:p>
            <a:pPr algn="ctr">
              <a:lnSpc>
                <a:spcPct val="100000"/>
              </a:lnSpc>
            </a:pPr>
            <a:r>
              <a:rPr lang="en-GB" sz="2400" dirty="0">
                <a:solidFill>
                  <a:srgbClr val="F8F6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 Dr. Arslan Usman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3F4AD-9839-C0C0-D927-EEEF3AD674CB}"/>
              </a:ext>
            </a:extLst>
          </p:cNvPr>
          <p:cNvSpPr txBox="1">
            <a:spLocks/>
          </p:cNvSpPr>
          <p:nvPr/>
        </p:nvSpPr>
        <p:spPr>
          <a:xfrm>
            <a:off x="1066800" y="842532"/>
            <a:ext cx="10058400" cy="1026191"/>
          </a:xfrm>
          <a:prstGeom prst="rect">
            <a:avLst/>
          </a:prstGeom>
          <a:noFill/>
        </p:spPr>
        <p:txBody>
          <a:bodyPr anchor="b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4000" b="1" dirty="0">
                <a:solidFill>
                  <a:srgbClr val="00C4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Project </a:t>
            </a:r>
          </a:p>
          <a:p>
            <a:pPr algn="ctr">
              <a:lnSpc>
                <a:spcPct val="100000"/>
              </a:lnSpc>
            </a:pPr>
            <a:r>
              <a:rPr lang="en-GB" sz="2200" dirty="0">
                <a:solidFill>
                  <a:srgbClr val="F8F6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Mid-Point Review Presentation </a:t>
            </a:r>
          </a:p>
        </p:txBody>
      </p:sp>
    </p:spTree>
    <p:extLst>
      <p:ext uri="{BB962C8B-B14F-4D97-AF65-F5344CB8AC3E}">
        <p14:creationId xmlns:p14="http://schemas.microsoft.com/office/powerpoint/2010/main" val="399923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AE0466-EB13-62C0-652D-3F4C6D7A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24666-F6F9-55BE-8D5D-805779DFC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7909" y="767566"/>
            <a:ext cx="9855566" cy="5494085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context​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problematic statement​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​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methodology​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management​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review​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90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C37E4-1F85-E1DF-6618-448C08528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6825" y="767567"/>
            <a:ext cx="10165175" cy="4879090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websites store their data in databases and use SQL to read and write it.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injection is an attack where malicious commands are typed into normal inputs, such as a login or search box.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input is not checked, attackers can read, change or delete data they should not be able to access.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still in the OWASP Top Ten after more than 20 years.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builds a system that detects SQL injection in real time using machine learning, and compares it with a traditional firewall.</a:t>
            </a:r>
          </a:p>
        </p:txBody>
      </p:sp>
    </p:spTree>
    <p:extLst>
      <p:ext uri="{BB962C8B-B14F-4D97-AF65-F5344CB8AC3E}">
        <p14:creationId xmlns:p14="http://schemas.microsoft.com/office/powerpoint/2010/main" val="37620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- WHY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762812" y="767566"/>
            <a:ext cx="10100663" cy="5494085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firewalls (WAFs) work from fixed rules, so they </a:t>
            </a:r>
            <a:r>
              <a:rPr lang="en-GB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 new or disguised attacks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also wrongly block safe inputs, giving a </a:t>
            </a:r>
            <a:r>
              <a:rPr lang="en-GB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false-positive rate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blocks real users.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Affects any site with a database (shops, banks, hospitals); ordinary users lose their personal data.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injection still causes major breaches today, so it is important to solve.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detection that adapts to new attacks and is fast enough to run live.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- WHAT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696825" y="767566"/>
            <a:ext cx="10166650" cy="5494085"/>
          </a:xfrm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objective:</a:t>
            </a:r>
          </a:p>
          <a:p>
            <a:pPr lvl="1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and evaluate a real-time machine learning system that detects and blocks SQL injection before it reaches the database.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Sub-objectives:</a:t>
            </a:r>
          </a:p>
          <a:p>
            <a:pPr lvl="1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models to tell safe queries from attack queries.</a:t>
            </a:r>
          </a:p>
          <a:p>
            <a:pPr lvl="1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the model as a live service that blocks attacks in real time.</a:t>
            </a:r>
          </a:p>
          <a:p>
            <a:pPr lvl="1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it against a rule-based firewall (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ModSecurity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on accuracy, false positives and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- HOW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611984" y="767566"/>
            <a:ext cx="10251491" cy="5494085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public labelled dataset plus attacks I generated myself with </a:t>
            </a: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sqlmap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DVWA.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query turned into character n-grams (TF-IDF).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 and Random Forest.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Detector: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Flask service that sits between the app and the database.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Comparison: </a:t>
            </a: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ModSecurity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firewall with the OWASP Core Rule Set.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these: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ML is the most reliable approach in the research, and simple models keep latency low for real-time use. Tools: Python, scikit-learn, MySQL, Docker.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602557" y="767566"/>
            <a:ext cx="10260918" cy="5494085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Worked in phases (sprints): build one part fully, then move to the next.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Tracked on GitHub with a commit after each finished phase.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environment, dataset, trained model, live detector, firewall benchmark.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Remaining: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refine the evaluation, produce result graphs, write the dissertation.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Roughly 70% of the practical work is complete and on schedule.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621410" y="767566"/>
            <a:ext cx="10242065" cy="5494085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injection is well studied; </a:t>
            </a: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Halfond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al. (2006) classified the main attack types, which still apply today.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prevention is parameterised queries, but real systems still get hit (Kindy and Pathan, 2011), so detection is still needed.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Signature-based firewalls catch known attacks but miss disguised ones.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detection is widely studied; supervised learning is the most common and reliable approach (</a:t>
            </a: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Alghawazi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al., 2022).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studies are offline and do not measure real-time speed or compare fairly with a real firewall. My project fills this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83703" y="767567"/>
            <a:ext cx="10279772" cy="5331576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working system - lab, dataset, model (99% accuracy), live detector, and benchmark against </a:t>
            </a: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ModSecurity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result: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ML detector beat the firewall on accuracy with zero false alarms.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 to do: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on my own </a:t>
            </a: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sqlmap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attacks, produce result graphs, write the dissertation.</a:t>
            </a: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challenge: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the model on unseen attacks - a finding I will analyse, not a blocker.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track, no major issues.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</TotalTime>
  <Words>670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Corbel</vt:lpstr>
      <vt:lpstr>Parallax</vt:lpstr>
      <vt:lpstr>PowerPoint Presentation</vt:lpstr>
      <vt:lpstr>Outline</vt:lpstr>
      <vt:lpstr>Context</vt:lpstr>
      <vt:lpstr>Problem Statement - WHY</vt:lpstr>
      <vt:lpstr>Objective - WHAT</vt:lpstr>
      <vt:lpstr>Methodology - HOW</vt:lpstr>
      <vt:lpstr>Project Management</vt:lpstr>
      <vt:lpstr>Literature Review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AKSHITH PEDDI</dc:creator>
  <cp:lastModifiedBy>akshithpeddi234@outlook.com</cp:lastModifiedBy>
  <cp:revision>3</cp:revision>
  <dcterms:created xsi:type="dcterms:W3CDTF">2024-06-20T10:19:17Z</dcterms:created>
  <dcterms:modified xsi:type="dcterms:W3CDTF">2026-07-01T16:41:19Z</dcterms:modified>
</cp:coreProperties>
</file>